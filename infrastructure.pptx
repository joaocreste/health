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73152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8954A"/>
                </a:solidFill>
                <a:latin typeface="IBM Plex Mono"/>
              </a:rPr>
              <a:t>JC ADVISORY · HEALTH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Raleway"/>
              </a:rPr>
              <a:t>Infrastructure &amp; ETL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FD7E0"/>
                </a:solidFill>
                <a:latin typeface="IBM Plex Sans"/>
              </a:rPr>
              <a:t>How raw wearable exports, lab PDFs and DICOM bundles become charts, AI insights and bilingual narrative pages — end to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954A"/>
                </a:solidFill>
                <a:latin typeface="IBM Plex Mono"/>
              </a:rPr>
              <a:t>Cloudflare Pages + Workers   ·   Neon Postgres (Frankfurt)   ·   Cloudflare R2   ·   Anthropic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01 ·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What lives 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A build-time path runs on the engineer's laptop; runtime is fully Cloudflare-native serverless.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73152" cy="2377440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2194560"/>
            <a:ext cx="26243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A8FA6"/>
                </a:solidFill>
                <a:latin typeface="IBM Plex Mono"/>
              </a:rPr>
              <a:t>DATA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D1B2A"/>
                </a:solidFill>
                <a:latin typeface="Raleway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7A8FA6"/>
                </a:solidFill>
                <a:latin typeface="IBM Plex Sans"/>
              </a:rPr>
              <a:t>device + manual streams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9476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D3D"/>
                </a:solidFill>
                <a:latin typeface="IBM Plex Sans"/>
              </a:rPr>
              <a:t>Oura · Apple · Withings · CGM · DICOM · CSVs · writings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2194560"/>
            <a:ext cx="73152" cy="2377440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2424" y="2194560"/>
            <a:ext cx="26243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23774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A8FA6"/>
                </a:solidFill>
                <a:latin typeface="IBM Plex Mono"/>
              </a:rPr>
              <a:t>DATABASE TABLES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69748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D1B2A"/>
                </a:solidFill>
                <a:latin typeface="Raleway"/>
              </a:rPr>
              <a:t>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34747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7A8FA6"/>
                </a:solidFill>
                <a:latin typeface="IBM Plex Sans"/>
              </a:rPr>
              <a:t>Postgres tables · 10 domains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379476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D3D"/>
                </a:solidFill>
                <a:latin typeface="IBM Plex Sans"/>
              </a:rPr>
              <a:t>Drizzle ORM · 9 enums · schema in db/schema.ts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2194560"/>
            <a:ext cx="73152" cy="2377440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2194560"/>
            <a:ext cx="26243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3774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A8FA6"/>
                </a:solidFill>
                <a:latin typeface="IBM Plex Mono"/>
              </a:rPr>
              <a:t>CLAUDE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69748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D1B2A"/>
                </a:solidFill>
                <a:latin typeface="Raleway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34747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7A8FA6"/>
                </a:solidFill>
                <a:latin typeface="IBM Plex Sans"/>
              </a:rPr>
              <a:t>tiers in production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379476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D3D"/>
                </a:solidFill>
                <a:latin typeface="IBM Plex Sans"/>
              </a:rPr>
              <a:t>Opus 4.7 (chat) · Sonnet 4.6 (ingest) · Haiku 4.5 (classify)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43416" y="2194560"/>
            <a:ext cx="73152" cy="2377440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16568" y="2194560"/>
            <a:ext cx="26243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7736" y="23774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A8FA6"/>
                </a:solidFill>
                <a:latin typeface="IBM Plex Mono"/>
              </a:rPr>
              <a:t>DEPLOY CADENCE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269748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D1B2A"/>
                </a:solidFill>
                <a:latin typeface="Raleway"/>
              </a:rPr>
              <a:t>Manual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7736" y="34747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7A8FA6"/>
                </a:solidFill>
                <a:latin typeface="IBM Plex Sans"/>
              </a:rPr>
              <a:t>wrangler CLI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7736" y="379476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D3D"/>
                </a:solidFill>
                <a:latin typeface="IBM Plex Sans"/>
              </a:rPr>
              <a:t>Git push ≠ deploy. Live URL updates after wrangler pages deploy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E0C6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029200"/>
            <a:ext cx="54864" cy="914400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663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DESIGN PRINCIPLE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440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E2D3D"/>
                </a:solidFill>
                <a:latin typeface="IBM Plex Sans"/>
              </a:rPr>
              <a:t>Separate the build path from the runtime path. Static charts ship as files. Only AI, auth and data mutations touch the Worker.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7B8A"/>
                </a:solidFill>
                <a:latin typeface="IBM Plex Mono"/>
              </a:rPr>
              <a:t>JC Advisory · Health Platform · Infrastructure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02 · BIG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End-to-end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Build-time (left) converts raw exports into static artifacts. Runtime (right) serves them and dispatches API calls.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7A8FA6"/>
                </a:solidFill>
                <a:latin typeface="IBM Plex Mono"/>
              </a:rPr>
              <a:t>BUILD-TIME · LOCAL LAPTOP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2084831"/>
            <a:ext cx="548640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126480" y="1874519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7A8FA6"/>
                </a:solidFill>
                <a:latin typeface="IBM Plex Mono"/>
              </a:rPr>
              <a:t>RUNTIME · CLOUDFLARE-NATIVE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26480" y="2084831"/>
            <a:ext cx="562356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57200" y="2286000"/>
            <a:ext cx="2286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2257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1B2A"/>
                </a:solidFill>
                <a:latin typeface="IBM Plex Sans"/>
              </a:rPr>
              <a:t>Oura Ring · CSVs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70048"/>
            <a:ext cx="2286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066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1B2A"/>
                </a:solidFill>
                <a:latin typeface="IBM Plex Sans"/>
              </a:rPr>
              <a:t>Apple Health · ECG + XML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54096"/>
            <a:ext cx="2286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906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1B2A"/>
                </a:solidFill>
                <a:latin typeface="IBM Plex Sans"/>
              </a:rPr>
              <a:t>Withings · scale + BP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38144"/>
            <a:ext cx="2286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4747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1B2A"/>
                </a:solidFill>
                <a:latin typeface="IBM Plex Sans"/>
              </a:rPr>
              <a:t>FreeStyle Libre CGM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22192"/>
            <a:ext cx="2286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7A8FA6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587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1B2A"/>
                </a:solidFill>
                <a:latin typeface="IBM Plex Sans"/>
              </a:rPr>
              <a:t>DICOM workstation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06240"/>
            <a:ext cx="2286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7A8FA6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2428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1B2A"/>
                </a:solidFill>
                <a:latin typeface="IBM Plex Sans"/>
              </a:rPr>
              <a:t>Manual CSVs + writings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788920" y="3200400"/>
            <a:ext cx="320040" cy="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154680" y="2286000"/>
            <a:ext cx="2194560" cy="2377440"/>
          </a:xfrm>
          <a:prstGeom prst="rect">
            <a:avLst/>
          </a:prstGeom>
          <a:solidFill>
            <a:srgbClr val="FFF6E5"/>
          </a:solidFill>
          <a:ln w="20320">
            <a:solidFill>
              <a:srgbClr val="B89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23774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bin/extract.py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267004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Python 3 · CLI · stdlib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37560" y="3017520"/>
            <a:ext cx="1828800" cy="0"/>
          </a:xfrm>
          <a:prstGeom prst="line">
            <a:avLst/>
          </a:prstGeom>
          <a:ln w="12700">
            <a:solidFill>
              <a:srgbClr val="E0C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310896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• reads patient folder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35584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• aggregates per-day series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602736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• Tukey boxplots, percentiles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3849624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• ECG classification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09651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• rolling means / IQRs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94960" y="3200400"/>
            <a:ext cx="320040" cy="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76072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80" y="232257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Mono"/>
              </a:rPr>
              <a:t>web/assets/data.js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7880" y="251460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8FA6"/>
                </a:solidFill>
                <a:latin typeface="IBM Plex Sans"/>
              </a:rPr>
              <a:t>daily time-series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60720" y="27432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97880" y="277977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Mono"/>
              </a:rPr>
              <a:t>web/assets/metrics.json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297180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8FA6"/>
                </a:solidFill>
                <a:latin typeface="IBM Plex Sans"/>
              </a:rPr>
              <a:t>summary stats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32004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323697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Mono"/>
              </a:rPr>
              <a:t>web/*.html (EN + PT)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97880" y="342900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8FA6"/>
                </a:solidFill>
                <a:latin typeface="IBM Plex Sans"/>
              </a:rPr>
              <a:t>static pages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6576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369417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Mono"/>
              </a:rPr>
              <a:t>web/scans/*.png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97880" y="388620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8FA6"/>
                </a:solidFill>
                <a:latin typeface="IBM Plex Sans"/>
              </a:rPr>
              <a:t>DICOM slices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60720" y="41148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97880" y="415137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Mono"/>
              </a:rPr>
              <a:t>web/_worker.js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434340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8FA6"/>
                </a:solidFill>
                <a:latin typeface="IBM Plex Sans"/>
              </a:rPr>
              <a:t>Worker bundle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092440" y="3200400"/>
            <a:ext cx="365760" cy="0"/>
          </a:xfrm>
          <a:prstGeom prst="line">
            <a:avLst/>
          </a:prstGeom>
          <a:ln w="22860">
            <a:solidFill>
              <a:srgbClr val="B895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092440" y="29260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B8954A"/>
                </a:solidFill>
                <a:latin typeface="IBM Plex Mono"/>
              </a:rPr>
              <a:t>DEPLOY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03920" y="2286000"/>
            <a:ext cx="3246120" cy="2377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24231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Raleway"/>
              </a:rPr>
              <a:t>wrangler CLI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2697480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CFD7E0"/>
                </a:solidFill>
                <a:latin typeface="IBM Plex Mono"/>
              </a:rPr>
              <a:t>npx wrangler pages deploy web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686800" y="3063240"/>
            <a:ext cx="2880360" cy="0"/>
          </a:xfrm>
          <a:prstGeom prst="line">
            <a:avLst/>
          </a:prstGeom>
          <a:ln w="12700">
            <a:solidFill>
              <a:srgbClr val="4F6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503920" y="315468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Raleway"/>
              </a:rPr>
              <a:t>Cloudflare Pages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345643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B8954A"/>
                </a:solidFill>
                <a:latin typeface="IBM Plex Mono"/>
              </a:rPr>
              <a:t>jc-advisory-health.pages.dev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41080" y="379476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CFD7E0"/>
                </a:solidFill>
                <a:latin typeface="IBM Plex Sans"/>
              </a:rPr>
              <a:t>• serves static HTML / JS / PNG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41080" y="40142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CFD7E0"/>
                </a:solidFill>
                <a:latin typeface="IBM Plex Sans"/>
              </a:rPr>
              <a:t>• routes /api/* → Worker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41080" y="423367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CFD7E0"/>
                </a:solidFill>
                <a:latin typeface="IBM Plex Sans"/>
              </a:rPr>
              <a:t>• global edge CDN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57200" y="4892040"/>
            <a:ext cx="11292840" cy="0"/>
          </a:xfrm>
          <a:prstGeom prst="line">
            <a:avLst/>
          </a:prstGeom>
          <a:ln w="12700">
            <a:solidFill>
              <a:srgbClr val="E5E2D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57200" y="49834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7A8FA6"/>
                </a:solidFill>
                <a:latin typeface="IBM Plex Mono"/>
              </a:rPr>
              <a:t>RUNTIME · USER-FACING REQUEST PATH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349240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440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D1B2A"/>
                </a:solidFill>
                <a:latin typeface="Raleway"/>
              </a:rPr>
              <a:t>User browser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56875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role · EN/PT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148840" y="5715000"/>
            <a:ext cx="320040" cy="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560320" y="5349240"/>
            <a:ext cx="2286000" cy="731520"/>
          </a:xfrm>
          <a:prstGeom prst="rect">
            <a:avLst/>
          </a:prstGeom>
          <a:solidFill>
            <a:srgbClr val="EEF5F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60320" y="54406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D1B2A"/>
                </a:solidFill>
                <a:latin typeface="Raleway"/>
              </a:rPr>
              <a:t>Cloudflare Pages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60320" y="568756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edge CDN · static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892040" y="5715000"/>
            <a:ext cx="365760" cy="0"/>
          </a:xfrm>
          <a:prstGeom prst="line">
            <a:avLst/>
          </a:prstGeom>
          <a:ln w="20320">
            <a:solidFill>
              <a:srgbClr val="B895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4846320" y="53949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8954A"/>
                </a:solidFill>
                <a:latin typeface="IBM Plex Mono"/>
              </a:rPr>
              <a:t>/api/*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49240" y="5349240"/>
            <a:ext cx="2103120" cy="731520"/>
          </a:xfrm>
          <a:prstGeom prst="rect">
            <a:avLst/>
          </a:prstGeom>
          <a:solidFill>
            <a:srgbClr val="FFF6E5"/>
          </a:solidFill>
          <a:ln w="19050">
            <a:solidFill>
              <a:srgbClr val="B89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49240" y="54406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D1B2A"/>
                </a:solidFill>
                <a:latin typeface="Raleway"/>
              </a:rPr>
              <a:t>_worker.js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49240" y="568756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router · auth · fan-out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498079" y="5440680"/>
            <a:ext cx="594361" cy="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498079" y="5715000"/>
            <a:ext cx="594361" cy="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498079" y="5989320"/>
            <a:ext cx="594361" cy="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8138160" y="5285232"/>
            <a:ext cx="3611880" cy="256032"/>
          </a:xfrm>
          <a:prstGeom prst="rect">
            <a:avLst/>
          </a:prstGeom>
          <a:solidFill>
            <a:srgbClr val="EEF5F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29600" y="531266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Sans"/>
              </a:rPr>
              <a:t>Neon Postgres · EU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58400" y="53126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32 tables · Drizzle ORM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38160" y="5568696"/>
            <a:ext cx="3611880" cy="256032"/>
          </a:xfrm>
          <a:prstGeom prst="rect">
            <a:avLst/>
          </a:prstGeom>
          <a:solidFill>
            <a:srgbClr val="EEF5F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29600" y="559612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Sans"/>
              </a:rPr>
              <a:t>Cloudflare R2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58400" y="55961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blobs · binding R2_BUCKET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38160" y="5852160"/>
            <a:ext cx="3611880" cy="256032"/>
          </a:xfrm>
          <a:prstGeom prst="rect">
            <a:avLst/>
          </a:prstGeom>
          <a:solidFill>
            <a:srgbClr val="EEF5F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29600" y="587959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Sans"/>
              </a:rPr>
              <a:t>Anthropic Claude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8400" y="58795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Opus · Sonnet · Haiku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7B8A"/>
                </a:solidFill>
                <a:latin typeface="IBM Plex Mono"/>
              </a:rPr>
              <a:t>JC Advisory · Health Platform · Infrastructure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03 · 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Where the raw signal comes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All inputs live under Patients/&lt;Patient&gt;/ at the repo root. The script accepts JC_DATA_DIR to point elsewhere.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5740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8954A"/>
                </a:solidFill>
                <a:latin typeface="IBM Plex Mono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205740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8954A"/>
                </a:solidFill>
                <a:latin typeface="IBM Plex Mono"/>
              </a:rPr>
              <a:t>FOLDER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8" y="205740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8954A"/>
                </a:solidFill>
                <a:latin typeface="IBM Plex Mono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05740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8954A"/>
                </a:solidFill>
                <a:latin typeface="IBM Plex Mono"/>
              </a:rPr>
              <a:t>REFRESHED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8" y="205740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8954A"/>
                </a:solidFill>
                <a:latin typeface="IBM Plex Mono"/>
              </a:rPr>
              <a:t>WHAT'S EXTRACTED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957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D1B2A"/>
                </a:solidFill>
                <a:latin typeface="IBM Plex Sans"/>
              </a:rPr>
              <a:t>Oura 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8" y="239572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44E6E"/>
                </a:solidFill>
                <a:latin typeface="IBM Plex Mono"/>
              </a:rPr>
              <a:t>Oura/App Data/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3088" y="23957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Mono"/>
              </a:rPr>
              <a:t>~45 CSVs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239572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monthly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239572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Sleep stages · HRV · RHR · steps · stress · resilience · workouts · tags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2788920"/>
            <a:ext cx="11247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57200" y="2788920"/>
            <a:ext cx="11247120" cy="457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8529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D1B2A"/>
                </a:solidFill>
                <a:latin typeface="IBM Plex Sans"/>
              </a:rPr>
              <a:t>Apple 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9968" y="285292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44E6E"/>
                </a:solidFill>
                <a:latin typeface="IBM Plex Mono"/>
              </a:rPr>
              <a:t>Apple Health/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8" y="28529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Mono"/>
              </a:rPr>
              <a:t>XML + ECG + GPX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285292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85292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63 ECGs · 188 GPX routes · 866 MB XML kept local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3246120"/>
            <a:ext cx="11247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33101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D1B2A"/>
                </a:solidFill>
                <a:latin typeface="IBM Plex Sans"/>
              </a:rPr>
              <a:t>Withings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9968" y="331012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44E6E"/>
                </a:solidFill>
                <a:latin typeface="IBM Plex Mono"/>
              </a:rPr>
              <a:t>Withings/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3088" y="33101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Mono"/>
              </a:rPr>
              <a:t>~20 CSVs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8" y="331012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monthly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331012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121 bio-impedance readings · 249 BP cuff readings since Nov 2025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3703320"/>
            <a:ext cx="11247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7673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D1B2A"/>
                </a:solidFill>
                <a:latin typeface="IBM Plex Sans"/>
              </a:rPr>
              <a:t>FreeStyle Libre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29968" y="376732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44E6E"/>
                </a:solidFill>
                <a:latin typeface="IBM Plex Mono"/>
              </a:rPr>
              <a:t>glucose_timeline.csv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3088" y="37673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Mono"/>
              </a:rPr>
              <a:t>CSV · 5-min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6128" y="376732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per sensor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728" y="376732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1,712 continuous readings, 26 Apr → 2 May 2026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" y="4160520"/>
            <a:ext cx="11247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42245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D1B2A"/>
                </a:solidFill>
                <a:latin typeface="IBM Plex Sans"/>
              </a:rPr>
              <a:t>DICOM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29968" y="422452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44E6E"/>
                </a:solidFill>
                <a:latin typeface="IBM Plex Mono"/>
              </a:rPr>
              <a:t>Imagery/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3088" y="42245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Mono"/>
              </a:rPr>
              <a:t>DICOM stacks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6128" y="422452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per visit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422452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Pre-rendered to PNG + manifest.json before deploy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57200" y="4617720"/>
            <a:ext cx="11247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6817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D1B2A"/>
                </a:solidFill>
                <a:latin typeface="IBM Plex Sans"/>
              </a:rPr>
              <a:t>Lab PDFs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29968" y="468172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44E6E"/>
                </a:solidFill>
                <a:latin typeface="IBM Plex Mono"/>
              </a:rPr>
              <a:t>Blood/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3088" y="46817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Mono"/>
              </a:rPr>
              <a:t>PDF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468172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per visit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67728" y="468172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Transcribed to Postgres via the ingest API (Claude Sonnet)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57200" y="5074920"/>
            <a:ext cx="11247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6928" y="51389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D1B2A"/>
                </a:solidFill>
                <a:latin typeface="IBM Plex Sans"/>
              </a:rPr>
              <a:t>Manual CSVs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29968" y="513892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44E6E"/>
                </a:solidFill>
                <a:latin typeface="IBM Plex Mono"/>
              </a:rPr>
              <a:t>root of patient folder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33088" y="51389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Mono"/>
              </a:rPr>
              <a:t>small CSVs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96128" y="513892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manual edit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7728" y="513892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medications · supplements · AUDIT · clinical_history · wheel_of_life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7200" y="5532120"/>
            <a:ext cx="11247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457200" y="5532120"/>
            <a:ext cx="11247120" cy="457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55961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D1B2A"/>
                </a:solidFill>
                <a:latin typeface="IBM Plex Sans"/>
              </a:rPr>
              <a:t>Writings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29968" y="559612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44E6E"/>
                </a:solidFill>
                <a:latin typeface="IBM Plex Mono"/>
              </a:rPr>
              <a:t>Writtings/ · Therapy Transcripts/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33088" y="559612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Mono"/>
              </a:rPr>
              <a:t>.txt · .json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96128" y="559612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as authored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67728" y="559612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Patient first-person material — quoted verbatim, never auto-rewritten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57200" y="5989320"/>
            <a:ext cx="11247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7B8A"/>
                </a:solidFill>
                <a:latin typeface="IBM Plex Mono"/>
              </a:rPr>
              <a:t>JC Advisory · Health Platform · Infrastructure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04 · BUILD-TIME ETL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Python pipeline — bin/extract.py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Reads every CSV / JSON / PDF under the patient folder, computes per-day aggregates, writes two artifacts back into web/assets/.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7A8FA6"/>
                </a:solidFill>
                <a:latin typeface="IBM Plex Mono"/>
              </a:rPr>
              <a:t>INPUTS · Patients/Joao Victor Creste/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2130552"/>
            <a:ext cx="34747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457200" y="2331720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68296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Oura/App Data/sleepmodel.csv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42616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79192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Oura/App Data/dailyactivity.csv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53512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90088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Oura/App Data/dailysleep.csv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64408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00984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Oura/App Data/dailystress.csv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75304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11880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Oura/App Data/heartrate.csv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86200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922776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Withings/weight.csv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97096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233672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Withings/bp.csv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507992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44568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Apple Health/electrocardiograms/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18888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7A8FA6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55464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glucose_timeline.csv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9784"/>
            <a:ext cx="36576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7A8FA6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166360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medications.csv · audit.csv · …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160520" y="3749039"/>
            <a:ext cx="365760" cy="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0" y="19202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7A8FA6"/>
                </a:solidFill>
                <a:latin typeface="IBM Plex Mono"/>
              </a:rPr>
              <a:t>TRANSFORMS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0" y="2130552"/>
            <a:ext cx="37033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572000" y="2331720"/>
            <a:ext cx="3657600" cy="4023360"/>
          </a:xfrm>
          <a:prstGeom prst="rect">
            <a:avLst/>
          </a:prstGeom>
          <a:solidFill>
            <a:srgbClr val="FFF6E5"/>
          </a:solidFill>
          <a:ln w="20320">
            <a:solidFill>
              <a:srgbClr val="B89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2468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D1B2A"/>
                </a:solidFill>
                <a:latin typeface="Raleway"/>
              </a:rPr>
              <a:t>bin/extract.py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2788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Python 3 · pure stdlib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754880" y="3154680"/>
            <a:ext cx="3291840" cy="0"/>
          </a:xfrm>
          <a:prstGeom prst="line">
            <a:avLst/>
          </a:prstGeom>
          <a:ln w="12700">
            <a:solidFill>
              <a:srgbClr val="E0C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09160" y="3291840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8954A"/>
                </a:solidFill>
                <a:latin typeface="IBM Plex Mono"/>
              </a:rPr>
              <a:t>PER-NIGHT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3493008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Tukey boxplots for sleep stages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3694176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HRV / RHR monthly aggregates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9160" y="3931920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8954A"/>
                </a:solidFill>
                <a:latin typeface="IBM Plex Mono"/>
              </a:rPr>
              <a:t>PER-DAY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9160" y="4133088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steps · sedentary · active cal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4334256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stress min · resilience 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60" y="4572000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8954A"/>
                </a:solidFill>
                <a:latin typeface="IBM Plex Mono"/>
              </a:rPr>
              <a:t>PER-WEEK / MONTH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9160" y="4773168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BP weekly bands (±1 SD, ±2 SD)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9160" y="4974336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HR-by-time-of-day folds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5212080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8954A"/>
                </a:solidFill>
                <a:latin typeface="IBM Plex Mono"/>
              </a:rPr>
              <a:t>PARSE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9160" y="5413248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ECG classification + dates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09160" y="5614416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Oura self-tags (alcohol, valium)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21040" y="3749039"/>
            <a:ext cx="365760" cy="0"/>
          </a:xfrm>
          <a:prstGeom prst="line">
            <a:avLst/>
          </a:prstGeom>
          <a:ln w="22860">
            <a:solidFill>
              <a:srgbClr val="B895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732520" y="19202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7A8FA6"/>
                </a:solidFill>
                <a:latin typeface="IBM Plex Mono"/>
              </a:rPr>
              <a:t>OUTPUTS · web/assets/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732520" y="2130552"/>
            <a:ext cx="30175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732520" y="2468880"/>
            <a:ext cx="3017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25786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data.js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290779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~74 KB · WEIGHT, HRV_RHR,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31089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STEPS, SLEEP_BOX, STRESS_RES 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33558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/* generated YYYY-MM-DD */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32520" y="3931920"/>
            <a:ext cx="3017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69680" y="4041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metrics.json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437083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~96 KB · medians · IQRs · n · ranges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457200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consumed by HTML inline scripts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69680" y="481888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{ "sleep": {…}, "ecgs": {…} }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8954A"/>
                </a:solidFill>
                <a:latin typeface="IBM Plex Mono"/>
              </a:rPr>
              <a:t>PIPELINE IS PURE-STDLIB PYTHON · IDEMPOTENT · RUN MANUALLY · NO SCHEDULED JOBS · NO CLOUD COMPUTE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05 ·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What happens when a user clicks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Static pages stream from the edge cache. The Worker only wakes for /api/* — chat, dashboards, ingest, admin.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1828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User 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role: admin · doctor · patient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31720" y="2834640"/>
            <a:ext cx="365760" cy="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331720" y="254203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HTTPS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377440"/>
            <a:ext cx="2286000" cy="914400"/>
          </a:xfrm>
          <a:prstGeom prst="rect">
            <a:avLst/>
          </a:prstGeom>
          <a:solidFill>
            <a:srgbClr val="EEF5F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2514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Cloudflare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edge CDN · static cache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74920" y="2834640"/>
            <a:ext cx="365760" cy="0"/>
          </a:xfrm>
          <a:prstGeom prst="line">
            <a:avLst/>
          </a:prstGeom>
          <a:ln w="22860">
            <a:solidFill>
              <a:srgbClr val="B895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83480" y="254203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8954A"/>
                </a:solidFill>
                <a:latin typeface="IBM Plex Mono"/>
              </a:rPr>
              <a:t>/api/*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377440"/>
            <a:ext cx="2286000" cy="914400"/>
          </a:xfrm>
          <a:prstGeom prst="rect">
            <a:avLst/>
          </a:prstGeom>
          <a:solidFill>
            <a:srgbClr val="FFF6E5"/>
          </a:solidFill>
          <a:ln w="20320">
            <a:solidFill>
              <a:srgbClr val="B89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2514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_worker.js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~1,200 LOC · single file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818120" y="2148840"/>
            <a:ext cx="868680" cy="68580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2834640"/>
            <a:ext cx="868680" cy="9144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18120" y="2834640"/>
            <a:ext cx="868680" cy="86868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686800" y="1920240"/>
            <a:ext cx="3063240" cy="777240"/>
          </a:xfrm>
          <a:prstGeom prst="rect">
            <a:avLst/>
          </a:prstGeom>
          <a:solidFill>
            <a:srgbClr val="EEF5F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199339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Neon Postgres · Frankfurt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240280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32 tables · Drizzle 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2450592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@neondatabase/serverless · env.DATABASE_URL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2697480"/>
            <a:ext cx="3063240" cy="777240"/>
          </a:xfrm>
          <a:prstGeom prst="rect">
            <a:avLst/>
          </a:prstGeom>
          <a:solidFill>
            <a:srgbClr val="EEF5F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77063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Cloudflare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3017520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binding R2_BUCKET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3227832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blobs · per-patient prefixes · GDPR cascade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0" y="3474720"/>
            <a:ext cx="3063240" cy="777240"/>
          </a:xfrm>
          <a:prstGeom prst="rect">
            <a:avLst/>
          </a:prstGeom>
          <a:solidFill>
            <a:srgbClr val="EEF5F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23960" y="354787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Anthropic Claude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3794760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@anthropic-ai/sdk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4005072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Opus 4.7 · Sonnet 4.6 · Haiku 4.5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5029200"/>
            <a:ext cx="11292840" cy="0"/>
          </a:xfrm>
          <a:prstGeom prst="line">
            <a:avLst/>
          </a:prstGeom>
          <a:ln w="12700">
            <a:solidFill>
              <a:srgbClr val="E5E2D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51206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7A8FA6"/>
                </a:solidFill>
                <a:latin typeface="IBM Plex Mono"/>
              </a:rPr>
              <a:t>WORKER ENDPOINT CLUSTER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39496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44E6E"/>
                </a:solidFill>
                <a:latin typeface="IBM Plex Mono"/>
              </a:rPr>
              <a:t>/api/chat   ·   /api/me   ·   /api/login   ·   /api/patient-summary   ·   /api/patient-exams
/api/patient-dashboard   ·   /api/patient-dashboard-build   ·   /api/patient-wipe-data   ·   /api/patients   ·   /api/admin/*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263640"/>
            <a:ext cx="5486400" cy="502920"/>
          </a:xfrm>
          <a:prstGeom prst="rect">
            <a:avLst/>
          </a:prstGeom>
          <a:solidFill>
            <a:srgbClr val="EEF5FA"/>
          </a:solidFill>
          <a:ln w="16510">
            <a:solidFill>
              <a:srgbClr val="3E7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630936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E7CA3"/>
                </a:solidFill>
                <a:latin typeface="IBM Plex Mono"/>
              </a:rPr>
              <a:t>STATIC PATH · ~95% OF TRAFFIC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651967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Edge cache hit · ~zero cost · &amp;lt; 50 ms anywhere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6263640"/>
            <a:ext cx="5486400" cy="502920"/>
          </a:xfrm>
          <a:prstGeom prst="rect">
            <a:avLst/>
          </a:prstGeom>
          <a:solidFill>
            <a:srgbClr val="FFF6E5"/>
          </a:solidFill>
          <a:ln w="16510">
            <a:solidFill>
              <a:srgbClr val="B89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630936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8954A"/>
                </a:solidFill>
                <a:latin typeface="IBM Plex Mono"/>
              </a:rPr>
              <a:t>WORKER PATH · DATA + 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651967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V8 isolate · ~5 ms cold start · 30 s CPU cap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06 · DATABASE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Neon Postgres — 31 tables in 10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Single Drizzle schema (db/schema.ts, 591 LOC). Every clinical row carries patient_id ON DELETE CASCADE — GDPR-clean.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0848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08483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211226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Identity &amp; access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" y="283464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60" y="290779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users · doctor_profiles · patient_profiles · patient_access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7208" y="192024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07208" y="192024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4368" y="20848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4568" y="208483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211226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2423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Clinical structured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44368" y="283464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944368" y="290779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medications · supplements · surgeries · injuries · clinical_history · risk_assessments · lab_results · vitals_daily · glucose_points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57216" y="192024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92024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20848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94576" y="208483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6" y="211226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94376" y="2423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Patient artifacts (R2)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94376" y="283464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94376" y="290779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imaging_studies · writings · documents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07224" y="192024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07224" y="192024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44384" y="20848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44584" y="208483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44584" y="211226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44384" y="2423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Self-assessment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644384" y="283464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644384" y="290779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wheel_of_life_assessments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57232" y="192024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7232" y="192024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94392" y="20848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94592" y="208483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594592" y="211226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94392" y="2423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Pipeline (imports)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994392" y="283464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994392" y="290779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imports · import_files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25196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25196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44165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94560" y="441655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94560" y="44439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47548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Audit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4360" y="516636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4360" y="523951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audit_log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07208" y="425196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07208" y="425196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44368" y="44165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44568" y="441655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44568" y="44439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47548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Psych architecture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944368" y="516636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944368" y="523951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psych_dimensions (reference) · psych_items · psych_evidence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57216" y="425196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157216" y="425196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94376" y="44165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08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94576" y="441655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94576" y="44439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94376" y="47548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Mental state &amp; events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294376" y="516636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294376" y="523951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mood_entries · panic_events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07224" y="425196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07224" y="425196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44384" y="44165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09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44584" y="441655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44584" y="44439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44384" y="47548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Encounters &amp; Rx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644384" y="516636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644384" y="523951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encounters · prescriptions · taper_history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57232" y="4251960"/>
            <a:ext cx="22860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857232" y="4251960"/>
            <a:ext cx="2286000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994392" y="44165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10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1594592" y="4416552"/>
            <a:ext cx="411480" cy="27432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594592" y="44439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94392" y="47548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2A"/>
                </a:solidFill>
                <a:latin typeface="Raleway"/>
              </a:rPr>
              <a:t>ECG · PGx · life events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994392" y="5166360"/>
            <a:ext cx="201168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994392" y="5239512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ecg_events · pgx_findings · life_events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8954A"/>
                </a:solidFill>
                <a:latin typeface="IBM Plex Mono"/>
              </a:rPr>
              <a:t>PATIENT_ID FK ON DELETE CASCADE   ·   UUID v4 PKs (bigint for high-volume)   ·   TIMESTAMPTZ EVERYWHERE   ·   9 ENUMS · JSONB FOR FLEX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06 · DATABASE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Three storage shapes — sometimes combined in the same 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Strict columns where you query · JSONB where shape varies · R2 where bytes shouldn't bloat the database.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3794760" cy="4206240"/>
          </a:xfrm>
          <a:prstGeom prst="rect">
            <a:avLst/>
          </a:prstGeom>
          <a:solidFill>
            <a:srgbClr val="FFFFFF"/>
          </a:solidFill>
          <a:ln w="1778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130552"/>
            <a:ext cx="34655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8954A"/>
                </a:solidFill>
                <a:latin typeface="IBM Plex Mono"/>
              </a:rPr>
              <a:t>PATTERN 01 · STRUCTURED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377440"/>
            <a:ext cx="34655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Strict typed columns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15768"/>
            <a:ext cx="34655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One row = one fact. Plottable.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3044952"/>
            <a:ext cx="3465576" cy="256032"/>
          </a:xfrm>
          <a:prstGeom prst="rect">
            <a:avLst/>
          </a:prstGeom>
          <a:solidFill>
            <a:srgbClr val="24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09067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medications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090672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FFFFFF"/>
                </a:solidFill>
                <a:latin typeface="IBM Plex Mono"/>
              </a:rPr>
              <a:t>type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3328416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364992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36499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uuid · pk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3584448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6210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patient_id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362102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uuid · fk → users.id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3840480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877056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8770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text · not null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096512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13308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dose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4133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" y="4352544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89120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started_at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38912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date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4608576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645152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ended_at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64515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date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1792" y="5074920"/>
            <a:ext cx="3465576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1792" y="5148072"/>
            <a:ext cx="34655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OTHER TABLES OF THIS SHAPE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49240"/>
            <a:ext cx="34655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vitals_daily · glucose_points · supplements · surgeries · injuries · lab_results · prescriptions · taper_history · life_events · pgx_findings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1965960"/>
            <a:ext cx="3794760" cy="4206240"/>
          </a:xfrm>
          <a:prstGeom prst="rect">
            <a:avLst/>
          </a:prstGeom>
          <a:solidFill>
            <a:srgbClr val="FFF6E5"/>
          </a:solidFill>
          <a:ln w="20320">
            <a:solidFill>
              <a:srgbClr val="B89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35424" y="2130552"/>
            <a:ext cx="34655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8954A"/>
                </a:solidFill>
                <a:latin typeface="IBM Plex Mono"/>
              </a:rPr>
              <a:t>PATTERN 02 · SEMI-STRUCTURED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5424" y="2377440"/>
            <a:ext cx="34655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Typed envelope + JSONB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5424" y="2715768"/>
            <a:ext cx="34655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Schema where it fits, flex where it doesn't.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35424" y="3044952"/>
            <a:ext cx="3465576" cy="256032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26864" y="309067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risk_assessments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26864" y="3090672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FFFFFF"/>
                </a:solidFill>
                <a:latin typeface="IBM Plex Mono"/>
              </a:rPr>
              <a:t>type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5424" y="3328416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26864" y="3364992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93992" y="336499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uuid · pk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35424" y="3584448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26864" y="36210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patient_id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93992" y="362102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uuid · fk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35424" y="3840480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26864" y="3877056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kind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93992" y="38770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text · 'AUDIT' · 'PHQ-9'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35424" y="4096512"/>
            <a:ext cx="3465576" cy="237744"/>
          </a:xfrm>
          <a:prstGeom prst="rect">
            <a:avLst/>
          </a:prstGeom>
          <a:solidFill>
            <a:srgbClr val="FFF6E5"/>
          </a:solidFill>
          <a:ln w="17780">
            <a:solidFill>
              <a:srgbClr val="B89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26864" y="413308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Mono"/>
              </a:rPr>
              <a:t>payload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4133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1B2A"/>
                </a:solidFill>
                <a:latin typeface="IBM Plex Mono"/>
              </a:rPr>
              <a:t>jsonb · not null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35424" y="4352544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4389120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recorded_at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93992" y="438912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timestamptz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35424" y="5074920"/>
            <a:ext cx="3465576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535424" y="5148072"/>
            <a:ext cx="34655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OTHER TABLES OF THIS SHAPE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35424" y="5349240"/>
            <a:ext cx="34655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wheel_of_life_assessments (16 axes in scores) · vitals_daily.extras · panic_events.symptoms · audit_log.metadata · imports.errors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84464" y="1965960"/>
            <a:ext cx="3794760" cy="4206240"/>
          </a:xfrm>
          <a:prstGeom prst="rect">
            <a:avLst/>
          </a:prstGeom>
          <a:solidFill>
            <a:srgbClr val="EEF5FA"/>
          </a:solidFill>
          <a:ln w="1778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49056" y="2130552"/>
            <a:ext cx="34655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8954A"/>
                </a:solidFill>
                <a:latin typeface="IBM Plex Mono"/>
              </a:rPr>
              <a:t>PATTERN 03 · BLOB-BACKED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49056" y="2377440"/>
            <a:ext cx="34655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Postgres pointer · R2 bytes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49056" y="2715768"/>
            <a:ext cx="34655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2D3D"/>
                </a:solidFill>
                <a:latin typeface="IBM Plex Sans"/>
              </a:rPr>
              <a:t>Row stays small. Binary content in R2.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49056" y="3044952"/>
            <a:ext cx="3465576" cy="256032"/>
          </a:xfrm>
          <a:prstGeom prst="rect">
            <a:avLst/>
          </a:prstGeom>
          <a:solidFill>
            <a:srgbClr val="1B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40496" y="309067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BM Plex Mono"/>
              </a:rPr>
              <a:t>documents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0496" y="3090672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FFFFFF"/>
                </a:solidFill>
                <a:latin typeface="IBM Plex Mono"/>
              </a:rPr>
              <a:t>type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49056" y="3328416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40496" y="3364992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id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07624" y="336499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uuid · pk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49056" y="3584448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40496" y="36210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patient_id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707624" y="362102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uuid · fk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49056" y="3840480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40496" y="3877056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kind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07624" y="38770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text · 'genetics' · 'lab'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49056" y="4096512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540496" y="413308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original_filename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07624" y="4133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text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49056" y="4352544"/>
            <a:ext cx="3465576" cy="237744"/>
          </a:xfrm>
          <a:prstGeom prst="rect">
            <a:avLst/>
          </a:prstGeom>
          <a:solidFill>
            <a:srgbClr val="EEF5FA"/>
          </a:solidFill>
          <a:ln w="17780">
            <a:solidFill>
              <a:srgbClr val="3E7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40496" y="4389120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D1B2A"/>
                </a:solidFill>
                <a:latin typeface="IBM Plex Mono"/>
              </a:rPr>
              <a:t>blob_key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07624" y="438912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1B2A"/>
                </a:solidFill>
                <a:latin typeface="IBM Plex Mono"/>
              </a:rPr>
              <a:t>text → R2 object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49056" y="4608576"/>
            <a:ext cx="3465576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40496" y="4645152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E2D3D"/>
                </a:solidFill>
                <a:latin typeface="IBM Plex Mono"/>
              </a:rPr>
              <a:t>size_bytes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707624" y="464515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44E6E"/>
                </a:solidFill>
                <a:latin typeface="IBM Plex Mono"/>
              </a:rPr>
              <a:t>bigint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8449056" y="5074920"/>
            <a:ext cx="3465576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449056" y="5148072"/>
            <a:ext cx="34655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OTHER TABLES OF THIS SHAPE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49056" y="5349240"/>
            <a:ext cx="34655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244E6E"/>
                </a:solidFill>
                <a:latin typeface="IBM Plex Mono"/>
              </a:rPr>
              <a:t>imaging_studies (blob_prefix → multi-file) · writings · ecg_events · import_files · plus source_blob_key on most clinical tables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8954A"/>
                </a:solidFill>
                <a:latin typeface="IBM Plex Mono"/>
              </a:rPr>
              <a:t>COMBINED PATTERN · most rows carry all three: typed columns for what you query · optional jsonb for instrument-specific data · optional source_blob_key for audit back to the original PDF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07 · AI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Three Claude models, three jobs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Different tasks have different latency / accuracy budgets. One API key, three model identifiers, zero auto-routing.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794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91440" cy="4114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4A"/>
                </a:solidFill>
                <a:latin typeface="IBM Plex Mono"/>
              </a:rPr>
              <a:t>OPUS 4.7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D1B2A"/>
                </a:solidFill>
                <a:latin typeface="Raleway"/>
              </a:rPr>
              <a:t>Claude Opus 4.7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4E6E"/>
                </a:solidFill>
                <a:latin typeface="IBM Plex Mono"/>
              </a:rPr>
              <a:t>claude-opus-4-7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337560"/>
            <a:ext cx="3246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429000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3931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D1B2A"/>
                </a:solidFill>
                <a:latin typeface="IBM Plex Sans"/>
              </a:rPr>
              <a:t>Patient-facing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51960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CALLED FROM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6227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4E6E"/>
                </a:solidFill>
                <a:latin typeface="IBM Plex Mono"/>
              </a:rPr>
              <a:t>handleChat()  ·  web/_worker.js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WHY THIS 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56632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User-visible reasoning quality matters most. Strict system prompt: answer only from the bundled patient-record.txt — never invent facts.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0832" y="2011680"/>
            <a:ext cx="3794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2011680"/>
            <a:ext cx="91440" cy="4114800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21945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4A"/>
                </a:solidFill>
                <a:latin typeface="IBM Plex Mono"/>
              </a:rPr>
              <a:t>SONNET 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2" y="251460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D1B2A"/>
                </a:solidFill>
                <a:latin typeface="Raleway"/>
              </a:rPr>
              <a:t>Claude Sonnet 4.6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301752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4E6E"/>
                </a:solidFill>
                <a:latin typeface="IBM Plex Mono"/>
              </a:rPr>
              <a:t>claude-sonnet-4-6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45152" y="3337560"/>
            <a:ext cx="3246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45152" y="3429000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PURPOSE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2" y="363931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D1B2A"/>
                </a:solidFill>
                <a:latin typeface="IBM Plex Sans"/>
              </a:rPr>
              <a:t>Lab PDF transcription · document ingest · dashboard composition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2" y="4251960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CALLED FROM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446227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4E6E"/>
                </a:solidFill>
                <a:latin typeface="IBM Plex Mono"/>
              </a:rPr>
              <a:t>lib/ingest.js  ·  lib/dashboard.js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4846320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WHY THIS 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5056632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Strong vision + structured-output reliability. Used for the heavy lifting that lands rows in Postgres.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2011680"/>
            <a:ext cx="3794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2011680"/>
            <a:ext cx="91440" cy="4114800"/>
          </a:xfrm>
          <a:prstGeom prst="rect">
            <a:avLst/>
          </a:prstGeom>
          <a:solidFill>
            <a:srgbClr val="3E7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58784" y="21945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4A"/>
                </a:solidFill>
                <a:latin typeface="IBM Plex Mono"/>
              </a:rPr>
              <a:t>HAIKU 4.5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8784" y="251460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D1B2A"/>
                </a:solidFill>
                <a:latin typeface="Raleway"/>
              </a:rPr>
              <a:t>Claude Haiku 4.5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8784" y="301752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4E6E"/>
                </a:solidFill>
                <a:latin typeface="IBM Plex Mono"/>
              </a:rPr>
              <a:t>claude-haiku-4-5-20251001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58784" y="3337560"/>
            <a:ext cx="3246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58784" y="3429000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PURPOSE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363931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D1B2A"/>
                </a:solidFill>
                <a:latin typeface="IBM Plex Sans"/>
              </a:rPr>
              <a:t>Document classification · reclassification · doctor-name backfill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58784" y="4251960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CALLED FROM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446227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4E6E"/>
                </a:solidFill>
                <a:latin typeface="IBM Plex Mono"/>
              </a:rPr>
              <a:t>lib/ingest.js (taxonomy steps)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58784" y="4846320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A8FA6"/>
                </a:solidFill>
                <a:latin typeface="IBM Plex Mono"/>
              </a:rPr>
              <a:t>WHY THIS TIER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8784" y="5056632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High-volume, low-stakes calls. Latency and cost matter; accuracy is a bonus.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solidFill>
            <a:srgbClr val="FFF6E5"/>
          </a:solidFill>
          <a:ln w="12700">
            <a:solidFill>
              <a:srgbClr val="E0C6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6446520"/>
            <a:ext cx="54864" cy="320040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492240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ONE KEY · THREE MODELS · NO AUTO-ROUTING.  Each call site pins its own model identifier — choosing the wrong tier for a job is a code change, not a config change.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08 · AUTH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Identity, sessions, role-based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Custom cookie-session layer (lib/auth.js, Clerk-style API). Every API handler calls authenticate(request, env) before touching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7947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3794760" cy="5029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5798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2491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D1B2A"/>
                </a:solidFill>
                <a:latin typeface="Raleway"/>
              </a:rPr>
              <a:t>Platform administrator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1E2D3D"/>
                </a:solidFill>
                <a:latin typeface="IBM Plex Sans"/>
              </a:rPr>
              <a:t>Full read / write across every patient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977640"/>
            <a:ext cx="3246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41879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Creates other users (doctors + patients)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6451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Deletes patients (cascades through Postgres + R2)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023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292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Access: /api/admin/*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5595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4864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Only role that can issue right-to-erasure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2011680"/>
            <a:ext cx="37947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2011680"/>
            <a:ext cx="3794760" cy="502920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215798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DOCTOR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272491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D1B2A"/>
                </a:solidFill>
                <a:latin typeface="Raleway"/>
              </a:rPr>
              <a:t>Clinical 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3200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1E2D3D"/>
                </a:solidFill>
                <a:latin typeface="IBM Plex Sans"/>
              </a:rPr>
              <a:t>Read access to patients linked via patient_access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45152" y="3977640"/>
            <a:ext cx="3246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690872" y="41879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41148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Can write dashboard sections + clinical notes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90872" y="46451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73752" y="45720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No create-user / delete-user rights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90872" y="51023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3752" y="50292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Access: /api/patient-* for linked patients only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90872" y="55595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3752" y="54864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Auditable — every action lands in audit_log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84464" y="2011680"/>
            <a:ext cx="37947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84464" y="2011680"/>
            <a:ext cx="3794760" cy="502920"/>
          </a:xfrm>
          <a:prstGeom prst="rect">
            <a:avLst/>
          </a:prstGeom>
          <a:solidFill>
            <a:srgbClr val="3E7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58784" y="215798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IBM Plex Mono"/>
              </a:rPr>
              <a:t>PATIENT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272491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D1B2A"/>
                </a:solidFill>
                <a:latin typeface="Raleway"/>
              </a:rPr>
              <a:t>Self-access user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58784" y="3200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1E2D3D"/>
                </a:solidFill>
                <a:latin typeface="IBM Plex Sans"/>
              </a:rPr>
              <a:t>Read access to their own record only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58784" y="3977640"/>
            <a:ext cx="3246120" cy="0"/>
          </a:xfrm>
          <a:prstGeom prst="line">
            <a:avLst/>
          </a:prstGeom>
          <a:ln w="12700">
            <a:solidFill>
              <a:srgbClr val="E5E2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604504" y="41879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87384" y="41148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Can upload documents via the ingest path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4504" y="46451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87384" y="45720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Can wipe their own data (right to erasure)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04504" y="51023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87384" y="50292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Access: chat + their own static pages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4504" y="5559552"/>
            <a:ext cx="73152" cy="73152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87384" y="548640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Bilingual UI · EN / PT toggle in nav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REQUEST → AUTHENTICATE(REQUEST, ENV) → ROLE CHECK → PATIENT_ACCESS CHECK → HANDLER → AUDIT_LOG ROW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09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Source vs. deploy — two separate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GitHub is the source of truth. It does NOT deploy. Live URL only updates when an engineer runs the Wrangler CLI against web/.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108960"/>
            <a:ext cx="21945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Engineer ·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edits source +
runs ETL locally
(python3 bin/extract.py)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697480" y="2606040"/>
            <a:ext cx="685800" cy="77724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0" y="297180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E2D3D"/>
                </a:solidFill>
                <a:latin typeface="IBM Plex Mono"/>
              </a:rPr>
              <a:t>git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2194560"/>
            <a:ext cx="29260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7A8FA6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3317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6974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44E6E"/>
                </a:solidFill>
                <a:latin typeface="IBM Plex Mono"/>
              </a:rPr>
              <a:t>joaocreste/health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E2D3D"/>
                </a:solidFill>
                <a:latin typeface="IBM Plex Sans"/>
              </a:rPr>
              <a:t>source-of-truth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2461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DOES NOT DEPLOY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97480" y="4114800"/>
            <a:ext cx="685800" cy="777240"/>
          </a:xfrm>
          <a:prstGeom prst="line">
            <a:avLst/>
          </a:prstGeom>
          <a:ln w="22860">
            <a:solidFill>
              <a:srgbClr val="B895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606040" y="452628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wrangler pages deploy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4572000"/>
            <a:ext cx="2926080" cy="1280160"/>
          </a:xfrm>
          <a:prstGeom prst="rect">
            <a:avLst/>
          </a:prstGeom>
          <a:solidFill>
            <a:srgbClr val="FFF6E5"/>
          </a:solidFill>
          <a:ln w="20320">
            <a:solidFill>
              <a:srgbClr val="B89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47091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Wrangler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50749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uploads web/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44E6E"/>
                </a:solidFill>
                <a:latin typeface="IBM Plex Mono"/>
              </a:rPr>
              <a:t>--commit-dirty=true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0" y="5212080"/>
            <a:ext cx="365760" cy="0"/>
          </a:xfrm>
          <a:prstGeom prst="line">
            <a:avLst/>
          </a:prstGeom>
          <a:ln w="22860">
            <a:solidFill>
              <a:srgbClr val="B895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812280" y="4572000"/>
            <a:ext cx="2743200" cy="12801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47091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Raleway"/>
              </a:rPr>
              <a:t>Cloudflare Pages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B8954A"/>
                </a:solidFill>
                <a:latin typeface="IBM Plex Mono"/>
              </a:rPr>
              <a:t>jc-advisory-health.pages.dev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5349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CFD7E0"/>
                </a:solidFill>
                <a:latin typeface="IBM Plex Sans"/>
              </a:rPr>
              <a:t>unique preview URL per deploy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601200" y="5212080"/>
            <a:ext cx="365760" cy="0"/>
          </a:xfrm>
          <a:prstGeom prst="line">
            <a:avLst/>
          </a:prstGeom>
          <a:ln w="19050">
            <a:solidFill>
              <a:srgbClr val="1E2D3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0012680" y="4572000"/>
            <a:ext cx="1737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47091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D1B2A"/>
                </a:solidFill>
                <a:latin typeface="Raleway"/>
              </a:rPr>
              <a:t>User · live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80" y="5074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global CDN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53492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E2D3D"/>
                </a:solidFill>
                <a:latin typeface="IBM Plex Sans"/>
              </a:rPr>
              <a:t>≈seconds after deploy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263640"/>
            <a:ext cx="11247120" cy="50292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327648"/>
            <a:ext cx="10972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7A8FA6"/>
                </a:solidFill>
                <a:latin typeface="IBM Plex Mono"/>
              </a:rPr>
              <a:t>DAILY FLOW (always both, in either order):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5379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4E6E"/>
                </a:solidFill>
                <a:latin typeface="IBM Plex Mono"/>
              </a:rPr>
              <a:t>git add … → git commit (ASCII arrows only) → git push   ·   npx wrangler pages deploy web --commit-dirty=true   ·   curl preview URL to verify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8954A"/>
                </a:solidFill>
                <a:latin typeface="IBM Plex Mono"/>
              </a:rPr>
              <a:t>10 · 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2560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7A8FA6"/>
                </a:solidFill>
                <a:latin typeface="IBM Plex Mono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D1B2A"/>
                </a:solidFill>
                <a:latin typeface="Raleway"/>
              </a:rPr>
              <a:t>Where we are, where we need to get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E2D3D"/>
                </a:solidFill>
                <a:latin typeface="IBM Plex Sans"/>
              </a:rPr>
              <a:t>Architecture is shaped for HIPAA / LGPD / GDPR. No formal certification yet — sized for &lt;10 patients pre-certification.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794760" cy="4023360"/>
          </a:xfrm>
          <a:prstGeom prst="rect">
            <a:avLst/>
          </a:prstGeom>
          <a:solidFill>
            <a:srgbClr val="EEF5FA"/>
          </a:solidFill>
          <a:ln w="16510">
            <a:solidFill>
              <a:srgbClr val="3E7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3794760" cy="457200"/>
          </a:xfrm>
          <a:prstGeom prst="rect">
            <a:avLst/>
          </a:prstGeom>
          <a:solidFill>
            <a:srgbClr val="3E7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055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IBM Plex Mono"/>
              </a:rPr>
              <a:t>IN PLACE 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8163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EU-only Postgres region (Frankfurt)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32735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Row-level patient ownership · ON DELETE CASCADE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7307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6118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R2 per-patient key prefixes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41879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Audit log of every mutation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6451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262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Role-based API gating on every Worker handler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51023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9834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HTTPS-only · Cloudflare-managed TLS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5595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40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Right-to-erasure cascades Postgres + R2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0832" y="2011680"/>
            <a:ext cx="3794760" cy="4023360"/>
          </a:xfrm>
          <a:prstGeom prst="rect">
            <a:avLst/>
          </a:prstGeom>
          <a:solidFill>
            <a:srgbClr val="FFF6E5"/>
          </a:solidFill>
          <a:ln w="16510">
            <a:solidFill>
              <a:srgbClr val="B89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2011680"/>
            <a:ext cx="3794760" cy="457200"/>
          </a:xfrm>
          <a:prstGeom prst="rect">
            <a:avLst/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2" y="213055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IBM Plex Mono"/>
              </a:rPr>
              <a:t>DEFERRED UNTIL REAL PATIENTS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28163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2" y="26974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HIPAA Business Associate Agreement (Cloudflare)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63440" y="32735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2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HIPAA BAA with Anthropic (Enterprise plan)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37307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6118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Neon Enterprise (encryption-at-rest options)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41879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2" y="40690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SOC 2 / ISO 27001 attestations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63440" y="46451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28032" y="45262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Formal DPIA + LGPD Article 50 documentation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51023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28032" y="49834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Penetration test on the Worker surface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84464" y="2011680"/>
            <a:ext cx="3794760" cy="4023360"/>
          </a:xfrm>
          <a:prstGeom prst="rect">
            <a:avLst/>
          </a:prstGeom>
          <a:solidFill>
            <a:srgbClr val="F4F7FA"/>
          </a:solidFill>
          <a:ln w="1651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84464" y="2011680"/>
            <a:ext cx="3794760" cy="4572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13064" y="213055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IBM Plex Mono"/>
              </a:rPr>
              <a:t>COMPENSATING CONTROLS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77072" y="28163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41664" y="26974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Patient writings stay local until ingested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77072" y="32735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41664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866 MB Apple Health XML is gitignored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77072" y="37307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1664" y="36118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Wearable exports kept off-repo for non-Joao patients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77072" y="4187952"/>
            <a:ext cx="54864" cy="54864"/>
          </a:xfrm>
          <a:prstGeom prst="roundRect">
            <a:avLst>
              <a:gd name="adj" fmla="val 6000"/>
            </a:avLst>
          </a:prstGeom>
          <a:solidFill>
            <a:srgbClr val="B89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41664" y="40690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2D3D"/>
                </a:solidFill>
                <a:latin typeface="IBM Plex Sans"/>
              </a:rPr>
              <a:t>Anthropic system prompt forbids inventing facts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B8954A"/>
                </a:solidFill>
                <a:latin typeface="IBM Plex Mono"/>
              </a:rPr>
              <a:t>CURRENT POSTURE · single-engineer · single live patient (plus 3 bespoke demos) · pre-revenue · pre-certification · upgrades to Enterprise tiers happen once real patients sign 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