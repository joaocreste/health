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8954A"/>
                </a:solidFill>
                <a:latin typeface="IBM Plex Mono"/>
              </a:rPr>
              <a:t>LUMEN HEALTH · ENGINEERING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Raleway"/>
              </a:rPr>
              <a:t>Infrastructure &amp; ETL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D7E0"/>
                </a:solidFill>
                <a:latin typeface="IBM Plex Sans"/>
              </a:rPr>
              <a:t>How raw wearable exports, lab PDFs and DICOM bundles become charts, AI insights and bilingual narrative pages —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954A"/>
                </a:solidFill>
                <a:latin typeface="IBM Plex Mono"/>
              </a:rPr>
              <a:t>Cloudflare Pages + Workers   ·   Neon Postgres (Frankfurt)   ·   Cloudflare R2   ·   Anthropic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01 ·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What lives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A build-time path runs on the engineer's laptop; runtime is fully Cloudflare-native serverless.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73152" cy="237744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194560"/>
            <a:ext cx="26243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FA6"/>
                </a:solidFill>
                <a:latin typeface="IBM Plex Mono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D1B2A"/>
                </a:solidFill>
                <a:latin typeface="Raleway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FA6"/>
                </a:solidFill>
                <a:latin typeface="IBM Plex Sans"/>
              </a:rPr>
              <a:t>device + manual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D3D"/>
                </a:solidFill>
                <a:latin typeface="IBM Plex Sans"/>
              </a:rPr>
              <a:t>Oura · Apple · Withings · CGM · DICOM · CSVs · writings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2194560"/>
            <a:ext cx="73152" cy="237744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2194560"/>
            <a:ext cx="26243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377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FA6"/>
                </a:solidFill>
                <a:latin typeface="IBM Plex Mono"/>
              </a:rPr>
              <a:t>DATABASE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974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D1B2A"/>
                </a:solidFill>
                <a:latin typeface="Raleway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474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FA6"/>
                </a:solidFill>
                <a:latin typeface="IBM Plex Sans"/>
              </a:rPr>
              <a:t>Postgres tables · 10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7947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D3D"/>
                </a:solidFill>
                <a:latin typeface="IBM Plex Sans"/>
              </a:rPr>
              <a:t>Drizzle ORM · 9 enums · schema in db/schema.ts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194560"/>
            <a:ext cx="73152" cy="237744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2194560"/>
            <a:ext cx="26243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377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FA6"/>
                </a:solidFill>
                <a:latin typeface="IBM Plex Mono"/>
              </a:rPr>
              <a:t>CLAUDE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974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D1B2A"/>
                </a:solidFill>
                <a:latin typeface="Ralew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474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FA6"/>
                </a:solidFill>
                <a:latin typeface="IBM Plex Sans"/>
              </a:rPr>
              <a:t>tiers in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7947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D3D"/>
                </a:solidFill>
                <a:latin typeface="IBM Plex Sans"/>
              </a:rPr>
              <a:t>Opus 4.7 (chat) · Sonnet 4.6 (ingest) · Haiku 4.5 (classify)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6" y="2194560"/>
            <a:ext cx="73152" cy="237744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16568" y="2194560"/>
            <a:ext cx="26243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377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FA6"/>
                </a:solidFill>
                <a:latin typeface="IBM Plex Mono"/>
              </a:rPr>
              <a:t>DEPLOY 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6974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D1B2A"/>
                </a:solidFill>
                <a:latin typeface="Raleway"/>
              </a:rPr>
              <a:t>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474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A8FA6"/>
                </a:solidFill>
                <a:latin typeface="IBM Plex Sans"/>
              </a:rPr>
              <a:t>wrangler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7947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D3D"/>
                </a:solidFill>
                <a:latin typeface="IBM Plex Sans"/>
              </a:rPr>
              <a:t>Git push ≠ deploy. Live URL updates after wrangler pages deploy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FFF6E5"/>
          </a:solidFill>
          <a:ln w="12700">
            <a:solidFill>
              <a:srgbClr val="E0C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54864" cy="91440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66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D3D"/>
                </a:solidFill>
                <a:latin typeface="IBM Plex Sans"/>
              </a:rPr>
              <a:t>Separate the build path from the runtime path. Static charts ship as files. Only AI, auth and data mutations touch the Worker.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B8A"/>
                </a:solidFill>
                <a:latin typeface="IBM Plex Mono"/>
              </a:rPr>
              <a:t>Lumen Health ·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02 ·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End-to-end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Build-time (left) converts raw exports into static artifacts. Runtime (right) serves them and dispatches API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BUILD-TIME · LOCAL LAPTOP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084831"/>
            <a:ext cx="548640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0" y="1874519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RUNTIME · CLOUDFLARE-NATIVE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2084831"/>
            <a:ext cx="562356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28600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Oura Ring · CSVs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066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Apple Health · ECG + XML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Withings · scale + BP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74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FreeStyle Libre CGM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22192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F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58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DICOM workstation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F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42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D1B2A"/>
                </a:solidFill>
                <a:latin typeface="IBM Plex Sans"/>
              </a:rPr>
              <a:t>Manual CSVs + writings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8920" y="3200400"/>
            <a:ext cx="32004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54680" y="2286000"/>
            <a:ext cx="2194560" cy="2377440"/>
          </a:xfrm>
          <a:prstGeom prst="rect">
            <a:avLst/>
          </a:prstGeom>
          <a:solidFill>
            <a:srgbClr val="FFF6E5"/>
          </a:solidFill>
          <a:ln w="2032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2377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bin/extract.py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267004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Python 3 · CLI · stdlib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37560" y="3017520"/>
            <a:ext cx="1828800" cy="0"/>
          </a:xfrm>
          <a:prstGeom prst="line">
            <a:avLst/>
          </a:prstGeom>
          <a:ln w="12700">
            <a:solidFill>
              <a:srgbClr val="E0C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6120" y="31089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• reads patient folder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35584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• aggregates per-day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60273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• Tukey boxplots, percentiles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849624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• ECG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0965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• rolling means / IQRs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94960" y="3200400"/>
            <a:ext cx="32004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760720" y="22860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3225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web/assets/data.js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25146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8FA6"/>
                </a:solidFill>
                <a:latin typeface="IBM Plex Sans"/>
              </a:rPr>
              <a:t>daily time-series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27432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27797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web/assets/metrics.json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9718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8FA6"/>
                </a:solidFill>
                <a:latin typeface="IBM Plex Sans"/>
              </a:rPr>
              <a:t>summary stats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2004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32369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web/*.html (EN + PT)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4290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8FA6"/>
                </a:solidFill>
                <a:latin typeface="IBM Plex Sans"/>
              </a:rPr>
              <a:t>static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6576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36941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web/scans/*.png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8862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8FA6"/>
                </a:solidFill>
                <a:latin typeface="IBM Plex Sans"/>
              </a:rPr>
              <a:t>DICOM slices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1148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415137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web/_worker.js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43434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8FA6"/>
                </a:solidFill>
                <a:latin typeface="IBM Plex Sans"/>
              </a:rPr>
              <a:t>Worker bundle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92440" y="3200400"/>
            <a:ext cx="365760" cy="0"/>
          </a:xfrm>
          <a:prstGeom prst="line">
            <a:avLst/>
          </a:prstGeom>
          <a:ln w="2286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92440" y="29260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8954A"/>
                </a:solidFill>
                <a:latin typeface="IBM Plex Mono"/>
              </a:rPr>
              <a:t>DEPLOY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2286000"/>
            <a:ext cx="324612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Raleway"/>
              </a:rPr>
              <a:t>wrangler CLI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CFD7E0"/>
                </a:solidFill>
                <a:latin typeface="IBM Plex Mono"/>
              </a:rPr>
              <a:t>npx wrangler pages deploy web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86800" y="3063240"/>
            <a:ext cx="2880360" cy="0"/>
          </a:xfrm>
          <a:prstGeom prst="line">
            <a:avLst/>
          </a:prstGeom>
          <a:ln w="12700">
            <a:solidFill>
              <a:srgbClr val="4F6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503920" y="31546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Raleway"/>
              </a:rPr>
              <a:t>Cloudflare Pages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345643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B8954A"/>
                </a:solidFill>
                <a:latin typeface="IBM Plex Mono"/>
              </a:rPr>
              <a:t>jc-advisory-health.pages.dev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379476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FD7E0"/>
                </a:solidFill>
                <a:latin typeface="IBM Plex Sans"/>
              </a:rPr>
              <a:t>• serves static HTML / JS / PNG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0142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FD7E0"/>
                </a:solidFill>
                <a:latin typeface="IBM Plex Sans"/>
              </a:rPr>
              <a:t>• routes /api/* → Worker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42336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FD7E0"/>
                </a:solidFill>
                <a:latin typeface="IBM Plex Sans"/>
              </a:rPr>
              <a:t>• global edge CDN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" y="4892040"/>
            <a:ext cx="11292840" cy="0"/>
          </a:xfrm>
          <a:prstGeom prst="line">
            <a:avLst/>
          </a:prstGeom>
          <a:ln w="12700">
            <a:solidFill>
              <a:srgbClr val="E5E2DC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7200" y="49834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RUNTIME · USER-FACING REQUEST PATH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349240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440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D1B2A"/>
                </a:solidFill>
                <a:latin typeface="Raleway"/>
              </a:rPr>
              <a:t>User browser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6875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role · EN/PT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148840" y="5715000"/>
            <a:ext cx="32004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560320" y="5349240"/>
            <a:ext cx="2286000" cy="731520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D1B2A"/>
                </a:solidFill>
                <a:latin typeface="Raleway"/>
              </a:rPr>
              <a:t>Cloudflare Pages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56875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edge CDN · static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892040" y="5715000"/>
            <a:ext cx="365760" cy="0"/>
          </a:xfrm>
          <a:prstGeom prst="line">
            <a:avLst/>
          </a:prstGeom>
          <a:ln w="2032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846320" y="5394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/api/*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5349240"/>
            <a:ext cx="2103120" cy="731520"/>
          </a:xfrm>
          <a:prstGeom prst="rect">
            <a:avLst/>
          </a:prstGeom>
          <a:solidFill>
            <a:srgbClr val="FFF6E5"/>
          </a:solidFill>
          <a:ln w="1905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49240" y="5440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D1B2A"/>
                </a:solidFill>
                <a:latin typeface="Raleway"/>
              </a:rPr>
              <a:t>_worker.js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56875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router · auth · fan-out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498079" y="5440680"/>
            <a:ext cx="594361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98079" y="5715000"/>
            <a:ext cx="594361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498079" y="5989320"/>
            <a:ext cx="594361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138160" y="5285232"/>
            <a:ext cx="3611880" cy="256032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0" y="531266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Sans"/>
              </a:rPr>
              <a:t>Neon Postgres · EU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53126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32 tables · Drizzle ORM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38160" y="5568696"/>
            <a:ext cx="3611880" cy="256032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55961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Sans"/>
              </a:rPr>
              <a:t>Cloudflare R2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0" y="55961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blobs · binding R2_BUCKET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8160" y="5852160"/>
            <a:ext cx="3611880" cy="256032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0" y="58795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Sans"/>
              </a:rPr>
              <a:t>Anthropic Claude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0" y="58795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Opus · Sonnet · Haiku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B8A"/>
                </a:solidFill>
                <a:latin typeface="IBM Plex Mono"/>
              </a:rPr>
              <a:t>Lumen Health ·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03 ·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Where the raw signal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All inputs live under Patients/&lt;Patient&gt;/ at the repo root. The script accepts JC_DATA_DIR to point elsewhere.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8954A"/>
                </a:solidFill>
                <a:latin typeface="IBM Plex Mono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05740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8954A"/>
                </a:solidFill>
                <a:latin typeface="IBM Plex Mono"/>
              </a:rPr>
              <a:t>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20574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8954A"/>
                </a:solidFill>
                <a:latin typeface="IBM Plex Mono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0574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8954A"/>
                </a:solidFill>
                <a:latin typeface="IBM Plex Mono"/>
              </a:rPr>
              <a:t>REFRESHED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05740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8954A"/>
                </a:solidFill>
                <a:latin typeface="IBM Plex Mono"/>
              </a:rPr>
              <a:t>WHAT'S EXTRACTED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957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Oura 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395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Oura/App 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3957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~45 CSVs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3957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3957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Sleep stages · HRV · RHR · steps · stress · resilience · workouts · tags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27889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529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Apple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8529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Apple Health/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28529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XML + ECG + GPX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8529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monthly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8529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63 ECGs · 188 GPX routes · 866 MB XML kept local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32461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33101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Withings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3101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Withings/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33101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~20 CSVs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33101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monthly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101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121 bio-impedance readings · 249 BP cuff readings since Nov 2025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37033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767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FreeStyle Libre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37673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glucose_timeline.csv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3767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CSV · 5-min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7673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per sensor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7673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1,712 continuous readings, 26 Apr → 2 May 2026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41605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DICOM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9968" y="42245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Imagery/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8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DICOM stacks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42245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per visit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2245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Pre-rendered to PNG + manifest.json before deploy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46177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6817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Lab PDFs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9968" y="4681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Blood/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33088" y="46817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PDF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46817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per visit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46817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Transcribed to Postgres via the ingest API (Claude Sonnet)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50749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51389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Manual CSVs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51389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root of patient folder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3088" y="51389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small CSVs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96128" y="51389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manual edit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51389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medications · supplements · AUDIT · clinical_history · wheel_of_life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55321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55961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D1B2A"/>
                </a:solidFill>
                <a:latin typeface="IBM Plex Sans"/>
              </a:rPr>
              <a:t>Writings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29968" y="55961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44E6E"/>
                </a:solidFill>
                <a:latin typeface="IBM Plex Mono"/>
              </a:rPr>
              <a:t>Writtings/ · Therapy Transcripts/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33088" y="55961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Mono"/>
              </a:rPr>
              <a:t>.txt · .json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96128" y="55961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as authored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559612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Patient first-person material — quoted verbatim, never auto-rewritten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7200" y="5989320"/>
            <a:ext cx="11247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7B8A"/>
                </a:solidFill>
                <a:latin typeface="IBM Plex Mono"/>
              </a:rPr>
              <a:t>Lumen Health ·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04 · BUILD-TIME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Python pipeline — bin/extract.py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Reads every CSV / JSON / PDF under the patient folder, computes per-day aggregates, writes two artifacts back into web/assets/.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INPUTS · Patients/Joao Victor Creste/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130552"/>
            <a:ext cx="34747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331720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6829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Oura/App Data/sleepmodel.csv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42616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Oura/App Data/dailyactivity.csv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53512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Oura/App Data/dailysleep.csv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4408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0098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Oura/App Data/dailystress.csv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75304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Oura/App Data/heartrate.csv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227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Withings/weight.csv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3367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Withings/bp.csv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07992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4456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Apple Health/electrocardiograms/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18888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A8F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5546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glucose_timeline.csv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9784"/>
            <a:ext cx="3657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A8F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medications.csv · audit.csv · 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3749039"/>
            <a:ext cx="36576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0" y="1920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TRANSFORMS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0" y="2130552"/>
            <a:ext cx="37033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00" y="2331720"/>
            <a:ext cx="3657600" cy="4023360"/>
          </a:xfrm>
          <a:prstGeom prst="rect">
            <a:avLst/>
          </a:prstGeom>
          <a:solidFill>
            <a:srgbClr val="FFF6E5"/>
          </a:solidFill>
          <a:ln w="2032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468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D1B2A"/>
                </a:solidFill>
                <a:latin typeface="Raleway"/>
              </a:rPr>
              <a:t>bin/extract.py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788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Python 3 · pure stdlib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54880" y="3154680"/>
            <a:ext cx="3291840" cy="0"/>
          </a:xfrm>
          <a:prstGeom prst="line">
            <a:avLst/>
          </a:prstGeom>
          <a:ln w="12700">
            <a:solidFill>
              <a:srgbClr val="E0C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9160" y="329184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PER-NIGHT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49300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Tukey boxplots for sleep stages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694176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HRV / RHR monthly aggregates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393192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PER-DAY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13308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steps · sedentary · active 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4334256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stress min · resilience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457200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PER-WEEK /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77316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BP weekly bands (±1 SD, ±2 SD)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974336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HR-by-time-of-day folds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5212080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PARSE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541324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ECG classification + 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5614416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Oura self-tags (alcohol, valium)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1040" y="3749039"/>
            <a:ext cx="365760" cy="0"/>
          </a:xfrm>
          <a:prstGeom prst="line">
            <a:avLst/>
          </a:prstGeom>
          <a:ln w="2286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32520" y="1920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OUTPUTS · web/assets/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732520" y="2130552"/>
            <a:ext cx="30175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732520" y="2468880"/>
            <a:ext cx="3017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25786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data.js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29077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~74 KB · WEIGHT, HRV_RHR,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1089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STEPS, SLEEP_BOX, STRESS_RES 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33558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/* generated YYYY-MM-DD */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32520" y="3931920"/>
            <a:ext cx="3017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4041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metrics.json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3708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~96 KB · medians · IQRs · n · ranges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45720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consumed by HTML inline scripts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48188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{ "sleep": {…}, "ecgs": {…} 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PIPELINE IS PURE-STDLIB PYTHON · IDEMPOTENT · RUN MANUALLY · NO SCHEDULED JOBS · NO CLOUD COMPUTE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05 ·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What happens when a user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Static pages stream from the edge cache. The Worker only wakes for /api/* — chat, dashboards, ingest, admin.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User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role: admin · doctor · patient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834640"/>
            <a:ext cx="36576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31720" y="254203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HTTPS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377440"/>
            <a:ext cx="2286000" cy="914400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Cloudflare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edge CDN · static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74920" y="2834640"/>
            <a:ext cx="365760" cy="0"/>
          </a:xfrm>
          <a:prstGeom prst="line">
            <a:avLst/>
          </a:prstGeom>
          <a:ln w="2286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83480" y="254203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8954A"/>
                </a:solidFill>
                <a:latin typeface="IBM Plex Mono"/>
              </a:rPr>
              <a:t>/api/*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77440"/>
            <a:ext cx="2286000" cy="914400"/>
          </a:xfrm>
          <a:prstGeom prst="rect">
            <a:avLst/>
          </a:prstGeom>
          <a:solidFill>
            <a:srgbClr val="FFF6E5"/>
          </a:solidFill>
          <a:ln w="2032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_worker.js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~1,200 LOC · single file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818120" y="2148840"/>
            <a:ext cx="868680" cy="68580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2834640"/>
            <a:ext cx="868680" cy="9144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2834640"/>
            <a:ext cx="868680" cy="86868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686800" y="1920240"/>
            <a:ext cx="3063240" cy="777240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1993392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Neon Postgres · Frankfurt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32 tables · Drizzle 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450592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@neondatabase/serverless · env.DATABASE_URL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697480"/>
            <a:ext cx="3063240" cy="777240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770632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Cloudflare 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017520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binding R2_BUCKET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227832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blobs · per-patient prefixes · GDPR cascade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474720"/>
            <a:ext cx="3063240" cy="777240"/>
          </a:xfrm>
          <a:prstGeom prst="rect">
            <a:avLst/>
          </a:prstGeom>
          <a:solidFill>
            <a:srgbClr val="EEF5F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547872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Anthropic Claude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794760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@anthropic-ai/sdk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005072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Opus 4.7 · Sonnet 4.6 · Haiku 4.5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5029200"/>
            <a:ext cx="11292840" cy="0"/>
          </a:xfrm>
          <a:prstGeom prst="line">
            <a:avLst/>
          </a:prstGeom>
          <a:ln w="12700">
            <a:solidFill>
              <a:srgbClr val="E5E2DC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51206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A8FA6"/>
                </a:solidFill>
                <a:latin typeface="IBM Plex Mono"/>
              </a:rPr>
              <a:t>WORKER ENDPOINT CLUSTER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44E6E"/>
                </a:solidFill>
                <a:latin typeface="IBM Plex Mono"/>
              </a:rPr>
              <a:t>/api/chat   ·   /api/me   ·   /api/login   ·   /api/patient-summary   ·   /api/patient-exams
/api/patient-dashboard   ·   /api/patient-dashboard-build   ·   /api/patient-wipe-data   ·   /api/patients   ·   /api/admin/*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5486400" cy="502920"/>
          </a:xfrm>
          <a:prstGeom prst="rect">
            <a:avLst/>
          </a:prstGeom>
          <a:solidFill>
            <a:srgbClr val="EEF5FA"/>
          </a:solidFill>
          <a:ln w="16510">
            <a:solidFill>
              <a:srgbClr val="3E7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30936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E7CA3"/>
                </a:solidFill>
                <a:latin typeface="IBM Plex Mono"/>
              </a:rPr>
              <a:t>STATIC PATH · ~95% OF TRAFFIC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96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Edge cache hit · ~zero cost · &amp;lt; 50 ms anywhere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6263640"/>
            <a:ext cx="5486400" cy="502920"/>
          </a:xfrm>
          <a:prstGeom prst="rect">
            <a:avLst/>
          </a:prstGeom>
          <a:solidFill>
            <a:srgbClr val="FFF6E5"/>
          </a:solidFill>
          <a:ln w="1651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630936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WORKER PATH · DATA +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5196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V8 isolate · ~5 ms cold start · 30 s CPU cap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06 ·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Neon Postgres — 31 tables in 10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Single Drizzle schema (db/schema.ts, 591 LOC). Every clinical row carries patient_id ON DELETE CASCADE — GDPR-clean.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08483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1122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Identity &amp;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283464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90779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users · doctor_profiles · patient_profiles · patient_access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7208" y="192024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8" y="192024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2084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68" y="208483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1122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Clinical structured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44368" y="283464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44368" y="290779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medications · supplements · surgeries · injuries · clinical_history · risk_assessments · lab_results · vitals_daily · glucose_points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7216" y="192024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192024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084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4576" y="208483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21122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4376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Patient artifacts (R2)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94376" y="283464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94376" y="290779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imaging_studies · writings ·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07224" y="192024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7224" y="192024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384" y="2084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44584" y="208483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21122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Self-assessment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44384" y="283464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44384" y="290779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wheel_of_life_assessments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57232" y="192024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7232" y="192024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2084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94592" y="208483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94592" y="211226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94392" y="2423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Pipeline (imports)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94392" y="283464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994392" y="290779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imports · import_files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5196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25196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441655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44439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Audit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4360" y="516636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523951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audit_log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07208" y="425196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07208" y="425196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44368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44568" y="441655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44568" y="44439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44368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Psych architecture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944368" y="516636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944368" y="523951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psych_dimensions (reference) · psych_items · psych_evidence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57216" y="425196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57216" y="425196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94376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08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94576" y="441655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94576" y="44439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94376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Mental state &amp; events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94376" y="516636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294376" y="523951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mood_entries · panic_events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07224" y="425196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07224" y="425196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44384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09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4584" y="441655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44584" y="44439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44384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Encounters &amp; Rx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644384" y="516636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644384" y="523951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encounters · prescriptions · taper_history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57232" y="4251960"/>
            <a:ext cx="2286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57232" y="4251960"/>
            <a:ext cx="2286000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94392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10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594592" y="4416552"/>
            <a:ext cx="411480" cy="27432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594592" y="44439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94392" y="4754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1B2A"/>
                </a:solidFill>
                <a:latin typeface="Raleway"/>
              </a:rPr>
              <a:t>ECG · PGx · life events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994392" y="5166360"/>
            <a:ext cx="201168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994392" y="5239512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ecg_events · pgx_findings · life_events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49224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PATIENT_ID FK ON DELETE CASCADE   ·   UUID v4 PKs (bigint for high-volume)   ·   TIMESTAMPTZ EVERYWHERE   ·   9 ENUMS · JSONB FOR FLEX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06 ·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Three storage shapes — sometimes combined in the same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Strict columns where you query · JSONB where shape varies · R2 where bytes shouldn't bloat the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794760" cy="4206240"/>
          </a:xfrm>
          <a:prstGeom prst="rect">
            <a:avLst/>
          </a:prstGeom>
          <a:solidFill>
            <a:srgbClr val="FFFFFF"/>
          </a:solidFill>
          <a:ln w="1778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0552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PATTERN 01 · 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Strict typed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15768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One row = one fact. Plottable.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044952"/>
            <a:ext cx="3465576" cy="256032"/>
          </a:xfrm>
          <a:prstGeom prst="rect">
            <a:avLst/>
          </a:prstGeom>
          <a:solidFill>
            <a:srgbClr val="24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medications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90672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IBM Plex Mono"/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328416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6499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6499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pk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584448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210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patient_id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62102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fk → users.id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840480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77056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7705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text · not 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096512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13308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dose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133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4352544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389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started_at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3891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608576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64515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ended_at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64515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date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074920"/>
            <a:ext cx="3465576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148072"/>
            <a:ext cx="3465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OTHER TABLES OF THIS SHAPE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349240"/>
            <a:ext cx="34655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vitals_daily · glucose_points · supplements · surgeries · injuries · lab_results · prescriptions · taper_history · life_events · pgx_findings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1965960"/>
            <a:ext cx="3794760" cy="4206240"/>
          </a:xfrm>
          <a:prstGeom prst="rect">
            <a:avLst/>
          </a:prstGeom>
          <a:solidFill>
            <a:srgbClr val="FFF6E5"/>
          </a:solidFill>
          <a:ln w="2032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2130552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PATTERN 02 · SEMI-STRUCTURED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2377440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Typed envelope + JSONB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2715768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Schema where it fits, flex where it doesn't.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35424" y="3044952"/>
            <a:ext cx="3465576" cy="256032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309067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risk_assessments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6864" y="3090672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IBM Plex Mono"/>
              </a:rPr>
              <a:t>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5424" y="3328416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6864" y="336499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336499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pk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35424" y="3584448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36210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patient_id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93992" y="362102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fk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35424" y="3840480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26864" y="3877056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kind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3992" y="387705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text · 'AUDIT' · 'PHQ-9'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35424" y="4096512"/>
            <a:ext cx="3465576" cy="237744"/>
          </a:xfrm>
          <a:prstGeom prst="rect">
            <a:avLst/>
          </a:prstGeom>
          <a:solidFill>
            <a:srgbClr val="FFF6E5"/>
          </a:solidFill>
          <a:ln w="1778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26864" y="413308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payload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3992" y="4133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1B2A"/>
                </a:solidFill>
                <a:latin typeface="IBM Plex Mono"/>
              </a:rPr>
              <a:t>jsonb · not null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35424" y="4352544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4389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recorded_at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3891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timestamptz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35424" y="5074920"/>
            <a:ext cx="3465576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35424" y="5148072"/>
            <a:ext cx="3465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OTHER TABLES OF THIS SHAPE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35424" y="5349240"/>
            <a:ext cx="34655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wheel_of_life_assessments (16 axes in scores) · vitals_daily.extras · panic_events.symptoms · audit_log.metadata · imports.errors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84464" y="1965960"/>
            <a:ext cx="3794760" cy="4206240"/>
          </a:xfrm>
          <a:prstGeom prst="rect">
            <a:avLst/>
          </a:prstGeom>
          <a:solidFill>
            <a:srgbClr val="EEF5FA"/>
          </a:solidFill>
          <a:ln w="1778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49056" y="2130552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54A"/>
                </a:solidFill>
                <a:latin typeface="IBM Plex Mono"/>
              </a:rPr>
              <a:t>PATTERN 03 · BLOB-BACKED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49056" y="2377440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Postgres pointer · R2 bytes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49056" y="2715768"/>
            <a:ext cx="34655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2D3D"/>
                </a:solidFill>
                <a:latin typeface="IBM Plex Sans"/>
              </a:rPr>
              <a:t>Row stays small. Binary content in R2.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49056" y="3044952"/>
            <a:ext cx="3465576" cy="256032"/>
          </a:xfrm>
          <a:prstGeom prst="rect">
            <a:avLst/>
          </a:prstGeom>
          <a:solidFill>
            <a:srgbClr val="1B3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40496" y="309067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BM Plex Mono"/>
              </a:rPr>
              <a:t>documents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0496" y="3090672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IBM Plex Mono"/>
              </a:rPr>
              <a:t>type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49056" y="3328416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0496" y="336499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07624" y="336499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pk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49056" y="3584448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0496" y="36210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patient_id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07624" y="362102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uuid · fk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49056" y="3840480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40496" y="3877056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kind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07624" y="387705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text · 'genetics' · 'lab'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49056" y="4096512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40496" y="413308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original_filename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07624" y="4133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text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49056" y="4352544"/>
            <a:ext cx="3465576" cy="237744"/>
          </a:xfrm>
          <a:prstGeom prst="rect">
            <a:avLst/>
          </a:prstGeom>
          <a:solidFill>
            <a:srgbClr val="EEF5FA"/>
          </a:solidFill>
          <a:ln w="17780">
            <a:solidFill>
              <a:srgbClr val="3E7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40496" y="4389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D1B2A"/>
                </a:solidFill>
                <a:latin typeface="IBM Plex Mono"/>
              </a:rPr>
              <a:t>blob_key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07624" y="43891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1B2A"/>
                </a:solidFill>
                <a:latin typeface="IBM Plex Mono"/>
              </a:rPr>
              <a:t>text → R2 object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49056" y="4608576"/>
            <a:ext cx="3465576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40496" y="464515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E2D3D"/>
                </a:solidFill>
                <a:latin typeface="IBM Plex Mono"/>
              </a:rPr>
              <a:t>size_bytes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07624" y="464515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44E6E"/>
                </a:solidFill>
                <a:latin typeface="IBM Plex Mono"/>
              </a:rPr>
              <a:t>bigint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449056" y="5074920"/>
            <a:ext cx="3465576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449056" y="5148072"/>
            <a:ext cx="3465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OTHER TABLES OF THIS SHAPE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49056" y="5349240"/>
            <a:ext cx="34655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244E6E"/>
                </a:solidFill>
                <a:latin typeface="IBM Plex Mono"/>
              </a:rPr>
              <a:t>imaging_studies (blob_prefix → multi-file) · writings · ecg_events · import_files · plus source_blob_key on most clinical tables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8954A"/>
                </a:solidFill>
                <a:latin typeface="IBM Plex Mono"/>
              </a:rPr>
              <a:t>COMBINED PATTERN · most rows carry all three: typed columns for what you query · optional jsonb for instrument-specific data · optional source_blob_key for audit back to the original 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07 ·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Three Claude models, three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Different tasks have different latency / accuracy budgets. One API key, three model identifiers, zero auto-routing.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794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91440" cy="4114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954A"/>
                </a:solidFill>
                <a:latin typeface="IBM Plex Mono"/>
              </a:rPr>
              <a:t>OPUS 4.7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D1B2A"/>
                </a:solidFill>
                <a:latin typeface="Raleway"/>
              </a:rPr>
              <a:t>Claude Opus 4.7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claude-opus-4-7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33756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42900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1B2A"/>
                </a:solidFill>
                <a:latin typeface="IBM Plex Sans"/>
              </a:rPr>
              <a:t>Patient-facing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CALLED 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622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handleChat()  ·  web/_worker.js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WHY THIS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56632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User-visible reasoning quality matters most. Strict system prompt: answer only from the bundled patient-record.txt — never invent facts.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2011680"/>
            <a:ext cx="3794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011680"/>
            <a:ext cx="91440" cy="411480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954A"/>
                </a:solidFill>
                <a:latin typeface="IBM Plex Mono"/>
              </a:rPr>
              <a:t>SONNET 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5146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D1B2A"/>
                </a:solidFill>
                <a:latin typeface="Raleway"/>
              </a:rPr>
              <a:t>Claude Sonnet 4.6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0175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claude-sonnet-4-6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45152" y="333756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45152" y="342900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PURPOSE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63931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1B2A"/>
                </a:solidFill>
                <a:latin typeface="IBM Plex Sans"/>
              </a:rPr>
              <a:t>Lab PDF transcription · document ingest · dashboard composition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2519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CALLED FROM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4622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lib/ingest.js  ·  lib/dashboard.js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84632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WHY THIS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5056632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Strong vision + structured-output reliability. Used for the heavy lifting that lands rows in Postgres.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4464" y="2011680"/>
            <a:ext cx="3794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84464" y="2011680"/>
            <a:ext cx="91440" cy="4114800"/>
          </a:xfrm>
          <a:prstGeom prst="rect">
            <a:avLst/>
          </a:prstGeom>
          <a:solidFill>
            <a:srgbClr val="3E7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21945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954A"/>
                </a:solidFill>
                <a:latin typeface="IBM Plex Mono"/>
              </a:rPr>
              <a:t>HAIKU 4.5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25146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D1B2A"/>
                </a:solidFill>
                <a:latin typeface="Raleway"/>
              </a:rPr>
              <a:t>Claude Haiku 4.5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0175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claude-haiku-4-5-20251001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58784" y="333756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58784" y="342900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PURPOSE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363931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1B2A"/>
                </a:solidFill>
                <a:latin typeface="IBM Plex Sans"/>
              </a:rPr>
              <a:t>Document classification · reclassification · doctor-name backfill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42519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CALLED FROM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44622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lib/ingest.js (taxonomy steps)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58784" y="484632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A8FA6"/>
                </a:solidFill>
                <a:latin typeface="IBM Plex Mono"/>
              </a:rPr>
              <a:t>WHY THIS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5056632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High-volume, low-stakes calls. Latency and cost matter; accuracy is a bonus.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FFF6E5"/>
          </a:solidFill>
          <a:ln w="12700">
            <a:solidFill>
              <a:srgbClr val="E0C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446520"/>
            <a:ext cx="54864" cy="32004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9224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ONE KEY · THREE MODELS · NO AUTO-ROUTING.  Each call site pins its own model identifier — choosing the wrong tier for a job is a code change, not a config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08 · AUTH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Identity, sessions, role-based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Custom cookie-session layer (lib/auth.js, Clerk-style API). Every API handler calls authenticate(request, env) before touching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794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947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5798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BM Plex Mono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D1B2A"/>
                </a:solidFill>
                <a:latin typeface="Raleway"/>
              </a:rPr>
              <a:t>Platform 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E2D3D"/>
                </a:solidFill>
                <a:latin typeface="IBM Plex Sans"/>
              </a:rPr>
              <a:t>Full read / write across every patient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97764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41879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Creates other users (doctors + patients)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451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Deletes patients (cascades through Postgres + R2)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023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Access: /api/admin/*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5595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864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Only role that can issue right-to-erasure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011680"/>
            <a:ext cx="3794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2011680"/>
            <a:ext cx="3794760" cy="50292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15798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BM Plex Mono"/>
              </a:rPr>
              <a:t>DOCTOR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724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D1B2A"/>
                </a:solidFill>
                <a:latin typeface="Raleway"/>
              </a:rPr>
              <a:t>Clinical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200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E2D3D"/>
                </a:solidFill>
                <a:latin typeface="IBM Plex Sans"/>
              </a:rPr>
              <a:t>Read access to patients linked via patient_access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45152" y="397764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90872" y="41879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4114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Can write dashboard sections + clinical notes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90872" y="46451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No create-user / delete-user rights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0872" y="51023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3752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Access: /api/patient-* for linked patients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90872" y="55595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54864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Auditable — every action lands in audit_log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2011680"/>
            <a:ext cx="3794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2011680"/>
            <a:ext cx="3794760" cy="502920"/>
          </a:xfrm>
          <a:prstGeom prst="rect">
            <a:avLst/>
          </a:prstGeom>
          <a:solidFill>
            <a:srgbClr val="3E7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215798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BM Plex Mono"/>
              </a:rPr>
              <a:t>PATIENT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2724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D1B2A"/>
                </a:solidFill>
                <a:latin typeface="Raleway"/>
              </a:rPr>
              <a:t>Self-access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3200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E2D3D"/>
                </a:solidFill>
                <a:latin typeface="IBM Plex Sans"/>
              </a:rPr>
              <a:t>Read access to their own record only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58784" y="3977640"/>
            <a:ext cx="3246120" cy="0"/>
          </a:xfrm>
          <a:prstGeom prst="line">
            <a:avLst/>
          </a:prstGeom>
          <a:ln w="12700">
            <a:solidFill>
              <a:srgbClr val="E5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604504" y="41879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4114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Can upload documents via the ingest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4504" y="46451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45720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Can wipe their own data (right to erasure)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4504" y="51023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7384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Access: chat + their own static pages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4504" y="5559552"/>
            <a:ext cx="73152" cy="73152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87384" y="54864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Bilingual UI · EN / PT toggle in nav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REQUEST → AUTHENTICATE(REQUEST, ENV) → ROLE CHECK → PATIENT_ACCESS CHECK → HANDLER → AUDIT_LOG ROW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09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Source vs. deploy — two separate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GitHub is the source of truth. It does NOT deploy. Live URL only updates when an engineer runs the Wrangler CLI against web/.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Engineer ·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edits source +
runs ETL locally
(python3 bin/extract.py)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97480" y="2606040"/>
            <a:ext cx="685800" cy="77724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97180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E2D3D"/>
                </a:solidFill>
                <a:latin typeface="IBM Plex Mono"/>
              </a:rPr>
              <a:t>git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945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F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joaocreste/health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17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E2D3D"/>
                </a:solidFill>
                <a:latin typeface="IBM Plex Sans"/>
              </a:rPr>
              <a:t>source-of-truth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4612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DOES NOT DEPLOY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4114800"/>
            <a:ext cx="685800" cy="777240"/>
          </a:xfrm>
          <a:prstGeom prst="line">
            <a:avLst/>
          </a:prstGeom>
          <a:ln w="2286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06040" y="45262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wrangler pages deploy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4572000"/>
            <a:ext cx="2926080" cy="1280160"/>
          </a:xfrm>
          <a:prstGeom prst="rect">
            <a:avLst/>
          </a:prstGeom>
          <a:solidFill>
            <a:srgbClr val="FFF6E5"/>
          </a:solidFill>
          <a:ln w="2032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7091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Wrangler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074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uploads web/ folder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--commit-dirty=true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5212080"/>
            <a:ext cx="365760" cy="0"/>
          </a:xfrm>
          <a:prstGeom prst="line">
            <a:avLst/>
          </a:prstGeom>
          <a:ln w="22860">
            <a:solidFill>
              <a:srgbClr val="B895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12280" y="4572000"/>
            <a:ext cx="27432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709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Raleway"/>
              </a:rPr>
              <a:t>Cloudflare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54A"/>
                </a:solidFill>
                <a:latin typeface="IBM Plex Mono"/>
              </a:rPr>
              <a:t>jc-advisory-health.pages.dev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FD7E0"/>
                </a:solidFill>
                <a:latin typeface="IBM Plex Sans"/>
              </a:rPr>
              <a:t>unique preview URL per deploy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5212080"/>
            <a:ext cx="365760" cy="0"/>
          </a:xfrm>
          <a:prstGeom prst="line">
            <a:avLst/>
          </a:prstGeom>
          <a:ln w="19050">
            <a:solidFill>
              <a:srgbClr val="1E2D3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012680" y="457200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4709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D1B2A"/>
                </a:solidFill>
                <a:latin typeface="Raleway"/>
              </a:rPr>
              <a:t>User ·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5074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global CDN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E2D3D"/>
                </a:solidFill>
                <a:latin typeface="IBM Plex Sans"/>
              </a:rPr>
              <a:t>≈seconds after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32764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A8FA6"/>
                </a:solidFill>
                <a:latin typeface="IBM Plex Mono"/>
              </a:rPr>
              <a:t>DAILY FLOW (always both, in either order):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37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44E6E"/>
                </a:solidFill>
                <a:latin typeface="IBM Plex Mono"/>
              </a:rPr>
              <a:t>git add … → git commit (ASCII arrows only) → git push   ·   npx wrangler pages deploy web --commit-dirty=true   ·   curl preview URL to verify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954A"/>
                </a:solidFill>
                <a:latin typeface="IBM Plex Mono"/>
              </a:rPr>
              <a:t>10 ·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FA6"/>
                </a:solidFill>
                <a:latin typeface="IBM Plex Mono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2A"/>
                </a:solidFill>
                <a:latin typeface="Raleway"/>
              </a:rPr>
              <a:t>Where we are, where we need to get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D3D"/>
                </a:solidFill>
                <a:latin typeface="IBM Plex Sans"/>
              </a:rPr>
              <a:t>Architecture is shaped for HIPAA / LGPD / GDPR. No formal certification yet — sized for &lt;10 patients pre-certification.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794760" cy="4023360"/>
          </a:xfrm>
          <a:prstGeom prst="rect">
            <a:avLst/>
          </a:prstGeom>
          <a:solidFill>
            <a:srgbClr val="EEF5FA"/>
          </a:solidFill>
          <a:ln w="16510">
            <a:solidFill>
              <a:srgbClr val="3E7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94760" cy="457200"/>
          </a:xfrm>
          <a:prstGeom prst="rect">
            <a:avLst/>
          </a:prstGeom>
          <a:solidFill>
            <a:srgbClr val="3E7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BM Plex Mono"/>
              </a:rPr>
              <a:t>IN PLACE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8163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EU-only Postgres region (Frankfurt)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2735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Row-level patient ownership · ON DELETE CASCADE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307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R2 per-patient key prefixes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1879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Audit log of every mutation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6451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Role-based API gating on every Worker handler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023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HTTPS-only · Cloudflare-managed TLS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595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Right-to-erasure cascades Postgres + R2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0832" y="2011680"/>
            <a:ext cx="3794760" cy="4023360"/>
          </a:xfrm>
          <a:prstGeom prst="rect">
            <a:avLst/>
          </a:prstGeom>
          <a:solidFill>
            <a:srgbClr val="FFF6E5"/>
          </a:solidFill>
          <a:ln w="16510">
            <a:solidFill>
              <a:srgbClr val="B89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2011680"/>
            <a:ext cx="3794760" cy="457200"/>
          </a:xfrm>
          <a:prstGeom prst="rect">
            <a:avLst/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21305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BM Plex Mono"/>
              </a:rPr>
              <a:t>DEFERRED UNTIL REAL PATIENTS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8163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2697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HIPAA Business Associate Agreement (Cloudflare)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2735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HIPAA BAA with Anthropic (Enterprise plan)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7307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Neon Enterprise (encryption-at-rest options)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1879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SOC 2 / ISO 27001 attestations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6451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4526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Formal DPIA + LGPD Article 50 documentation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51023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8032" y="4983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Penetration test on the Worker surface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4464" y="2011680"/>
            <a:ext cx="3794760" cy="4023360"/>
          </a:xfrm>
          <a:prstGeom prst="rect">
            <a:avLst/>
          </a:prstGeom>
          <a:solidFill>
            <a:srgbClr val="F4F7FA"/>
          </a:solidFill>
          <a:ln w="1651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84464" y="2011680"/>
            <a:ext cx="379476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4" y="21305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BM Plex Mono"/>
              </a:rPr>
              <a:t>COMPENSATING CONTROLS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7072" y="28163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1664" y="26974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Patient writings stay local until ingested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77072" y="32735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41664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866 MB Apple Health XML is gitignored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7072" y="37307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4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Wearable exports kept off-repo for non-Joao patients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77072" y="4187952"/>
            <a:ext cx="54864" cy="54864"/>
          </a:xfrm>
          <a:prstGeom prst="roundRect">
            <a:avLst>
              <a:gd name="adj" fmla="val 6000"/>
            </a:avLst>
          </a:prstGeom>
          <a:solidFill>
            <a:srgbClr val="B8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4" y="40690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2D3D"/>
                </a:solidFill>
                <a:latin typeface="IBM Plex Sans"/>
              </a:rPr>
              <a:t>Anthropic system prompt forbids inventing facts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954A"/>
                </a:solidFill>
                <a:latin typeface="IBM Plex Mono"/>
              </a:rPr>
              <a:t>CURRENT POSTURE · single-engineer · single live patient (plus 3 bespoke demos) · pre-revenue · pre-certification · upgrades to Enterprise tiers happen once real patients sign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